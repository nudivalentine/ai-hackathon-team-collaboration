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CAD3"/>
    <a:srgbClr val="38B2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4" d="100"/>
          <a:sy n="114" d="100"/>
        </p:scale>
        <p:origin x="71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813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39E4B-DF9E-8C9D-83AF-7869773B9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853B9-0284-65BC-C79C-0B576D180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C78EE-DB36-DAE4-935A-269275B0D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4FD76-40FF-2560-B610-B7A6839417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92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7071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79321" y="177235"/>
            <a:ext cx="640080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EduSync AI</a:t>
            </a:r>
            <a:endParaRPr lang="en-US" sz="4145" dirty="0"/>
          </a:p>
        </p:txBody>
      </p:sp>
      <p:sp>
        <p:nvSpPr>
          <p:cNvPr id="4" name="Text 1"/>
          <p:cNvSpPr/>
          <p:nvPr/>
        </p:nvSpPr>
        <p:spPr>
          <a:xfrm>
            <a:off x="1438712" y="1254679"/>
            <a:ext cx="6400800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924" dirty="0">
                <a:solidFill>
                  <a:srgbClr val="38B2A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Intelligent Student Assistant — Stay Ahead, Never Miss a Beat</a:t>
            </a:r>
            <a:endParaRPr lang="en-US" sz="1924" dirty="0"/>
          </a:p>
        </p:txBody>
      </p:sp>
      <p:sp>
        <p:nvSpPr>
          <p:cNvPr id="5" name="Text 2"/>
          <p:cNvSpPr/>
          <p:nvPr/>
        </p:nvSpPr>
        <p:spPr>
          <a:xfrm>
            <a:off x="1438712" y="2066233"/>
            <a:ext cx="64008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Transforming academic data into actionable guidance</a:t>
            </a:r>
            <a:endParaRPr lang="en-US" sz="1269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15ABE4-EB86-1CB3-6344-4EE36FE4661F}"/>
              </a:ext>
            </a:extLst>
          </p:cNvPr>
          <p:cNvSpPr txBox="1"/>
          <p:nvPr/>
        </p:nvSpPr>
        <p:spPr>
          <a:xfrm>
            <a:off x="2579615" y="2585810"/>
            <a:ext cx="3800211" cy="146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rgbClr val="38B2A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 Members</a:t>
            </a:r>
          </a:p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Victor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Kivinda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BIT/2022/51502</a:t>
            </a:r>
          </a:p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Valentine Nudi- BSCCS/2025/52984</a:t>
            </a:r>
          </a:p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Edwin Mwangi- BEDA/2023/60159</a:t>
            </a:r>
          </a:p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4. James Mam-BIT/2024/56261</a:t>
            </a:r>
          </a:p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5. Risper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chepngeno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-BIT/2024/55500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Modern Student's Dilemma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1314450"/>
            <a:ext cx="3312105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Students today navigate a fragmented academic landscape. They juggle multiple units, deadlines, and exam schedules spread across disconnected platforms — learning management systems, email threads, and WhatsApp groups.</a:t>
            </a:r>
            <a:endParaRPr lang="en-US" sz="1159" dirty="0"/>
          </a:p>
        </p:txBody>
      </p:sp>
      <p:sp>
        <p:nvSpPr>
          <p:cNvPr id="5" name="Text 2"/>
          <p:cNvSpPr/>
          <p:nvPr/>
        </p:nvSpPr>
        <p:spPr>
          <a:xfrm>
            <a:off x="714375" y="3074631"/>
            <a:ext cx="331210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result is information overload, missed deadlines, last-minute cramming, and unnecessary stress.</a:t>
            </a:r>
            <a:endParaRPr lang="en-US" sz="1159" dirty="0"/>
          </a:p>
        </p:txBody>
      </p:sp>
      <p:sp>
        <p:nvSpPr>
          <p:cNvPr id="6" name="Shape 3"/>
          <p:cNvSpPr/>
          <p:nvPr/>
        </p:nvSpPr>
        <p:spPr>
          <a:xfrm>
            <a:off x="4455105" y="1314450"/>
            <a:ext cx="285750" cy="285750"/>
          </a:xfrm>
          <a:prstGeom prst="ellipse">
            <a:avLst/>
          </a:prstGeom>
          <a:solidFill>
            <a:srgbClr val="D69E2E">
              <a:alpha val="10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649" y="1393031"/>
            <a:ext cx="144661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55155" y="1314450"/>
            <a:ext cx="3574470" cy="442913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 academic information is siloed across 3+ platforms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455105" y="1928813"/>
            <a:ext cx="285750" cy="285750"/>
          </a:xfrm>
          <a:prstGeom prst="ellipse">
            <a:avLst/>
          </a:prstGeom>
          <a:solidFill>
            <a:srgbClr val="D69E2E">
              <a:alpha val="10000"/>
            </a:srgbClr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3686" y="2007394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55155" y="1928813"/>
            <a:ext cx="3574470" cy="442913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 dates, assignment deadlines, and progress reports are hard to track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4455105" y="2543175"/>
            <a:ext cx="285750" cy="285750"/>
          </a:xfrm>
          <a:prstGeom prst="ellipse">
            <a:avLst/>
          </a:prstGeom>
          <a:solidFill>
            <a:srgbClr val="D69E2E">
              <a:alpha val="10000"/>
            </a:srgbClr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3686" y="2621756"/>
            <a:ext cx="128588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55155" y="2543175"/>
            <a:ext cx="3574470" cy="442913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Students spend more time searching for information than actually studying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455105" y="3157538"/>
            <a:ext cx="285750" cy="285750"/>
          </a:xfrm>
          <a:prstGeom prst="ellipse">
            <a:avLst/>
          </a:prstGeom>
          <a:solidFill>
            <a:srgbClr val="D69E2E">
              <a:alpha val="10000"/>
            </a:srgbClr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3686" y="3236119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55155" y="3157538"/>
            <a:ext cx="3574470" cy="442913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Reactive behavior replaces proactive planning, leading to poor performance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4455105" y="3771900"/>
            <a:ext cx="285750" cy="285750"/>
          </a:xfrm>
          <a:prstGeom prst="ellipse">
            <a:avLst/>
          </a:prstGeom>
          <a:solidFill>
            <a:srgbClr val="D69E2E">
              <a:alpha val="10000"/>
            </a:srgbClr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1723" y="3850481"/>
            <a:ext cx="112514" cy="128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55155" y="3771900"/>
            <a:ext cx="3574470" cy="442913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absence of a centralized system forces students to constantly play catch-up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Core Problem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1357313" y="1314450"/>
            <a:ext cx="6429375" cy="1835944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77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Without a centralized, intelligent system that proactively tracks academic progress and delivers timely reminders, students are perpetually reactive. Missed CATs, late submissions, and overlooked requirements are not failures of effort — they are </a:t>
            </a:r>
            <a:r>
              <a:rPr lang="en-US" sz="1295" b="1" dirty="0">
                <a:solidFill>
                  <a:srgbClr val="38B2A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failures of information architecture</a:t>
            </a:r>
            <a:r>
              <a:rPr lang="en-US" sz="1377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77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988" y="3364706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43025" y="3293269"/>
            <a:ext cx="29432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Missed deadlines directly impact grades and academic standing</a:t>
            </a:r>
            <a:endParaRPr lang="en-US" sz="942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753" y="3364706"/>
            <a:ext cx="178594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00650" y="3293269"/>
            <a:ext cx="29432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Disjointed communication channels create critical information gaps</a:t>
            </a:r>
            <a:endParaRPr lang="en-US" sz="942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058" y="4036219"/>
            <a:ext cx="160734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43025" y="3964781"/>
            <a:ext cx="29432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single platform aggregates enrolled units, completed courses, and pending requirements</a:t>
            </a:r>
            <a:endParaRPr lang="en-US" sz="942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753" y="4036219"/>
            <a:ext cx="178594" cy="1428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200650" y="3964781"/>
            <a:ext cx="29432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Students lack real-time visibility into their own academic performance</a:t>
            </a:r>
            <a:endParaRPr lang="en-US" sz="942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988" y="4707731"/>
            <a:ext cx="142875" cy="1428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343025" y="4636294"/>
            <a:ext cx="29432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Stress and anxiety increase as deadlines approach without adequate warning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Introducing EduSync AI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1357313" y="1314450"/>
            <a:ext cx="6429375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69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EduSync AI is an intelligent student assistant that seamlessly integrates with institutional systems to track academic progress in real time. It autonomously monitors enrolled units, completed courses, and pending requirements — then delivers </a:t>
            </a:r>
            <a:r>
              <a:rPr lang="en-US" sz="1193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proactive, personalized reminders</a:t>
            </a:r>
            <a:r>
              <a:rPr lang="en-US" sz="1269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via WhatsApp and email.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1714500" y="2583135"/>
            <a:ext cx="2786063" cy="700088"/>
          </a:xfrm>
          <a:prstGeom prst="rect">
            <a:avLst/>
          </a:prstGeom>
          <a:solidFill>
            <a:srgbClr val="38B2AC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714500" y="2583135"/>
            <a:ext cx="28575" cy="700088"/>
          </a:xfrm>
          <a:prstGeom prst="rect">
            <a:avLst/>
          </a:prstGeom>
          <a:solidFill>
            <a:srgbClr val="38B2A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8806" y="2847454"/>
            <a:ext cx="128588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00275" y="2654573"/>
            <a:ext cx="221456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Integrates directly with institutional learning management systems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643438" y="2583135"/>
            <a:ext cx="2786063" cy="700088"/>
          </a:xfrm>
          <a:prstGeom prst="rect">
            <a:avLst/>
          </a:prstGeom>
          <a:solidFill>
            <a:srgbClr val="38B2AC">
              <a:alpha val="5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4643438" y="2583135"/>
            <a:ext cx="28575" cy="700088"/>
          </a:xfrm>
          <a:prstGeom prst="rect">
            <a:avLst/>
          </a:prstGeom>
          <a:solidFill>
            <a:srgbClr val="38B2A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881" y="2847454"/>
            <a:ext cx="214313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29213" y="2654573"/>
            <a:ext cx="221456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Autonomous real-time monitoring of enrolled units and academic milestones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1714500" y="3383235"/>
            <a:ext cx="2786063" cy="700088"/>
          </a:xfrm>
          <a:prstGeom prst="rect">
            <a:avLst/>
          </a:prstGeom>
          <a:solidFill>
            <a:srgbClr val="38B2AC">
              <a:alpha val="5000"/>
            </a:srgbClr>
          </a:solidFill>
          <a:ln/>
        </p:spPr>
      </p:sp>
      <p:sp>
        <p:nvSpPr>
          <p:cNvPr id="14" name="Shape 9"/>
          <p:cNvSpPr/>
          <p:nvPr/>
        </p:nvSpPr>
        <p:spPr>
          <a:xfrm>
            <a:off x="1714500" y="3383235"/>
            <a:ext cx="28575" cy="700088"/>
          </a:xfrm>
          <a:prstGeom prst="rect">
            <a:avLst/>
          </a:prstGeom>
          <a:solidFill>
            <a:srgbClr val="38B2AC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8091" y="3647554"/>
            <a:ext cx="150019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200275" y="3454673"/>
            <a:ext cx="221456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Proactive alerts delivered through WhatsApp and email — channels students already use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643438" y="3383235"/>
            <a:ext cx="2786063" cy="700088"/>
          </a:xfrm>
          <a:prstGeom prst="rect">
            <a:avLst/>
          </a:prstGeom>
          <a:solidFill>
            <a:srgbClr val="38B2AC">
              <a:alpha val="500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4643438" y="3383235"/>
            <a:ext cx="28575" cy="700088"/>
          </a:xfrm>
          <a:prstGeom prst="rect">
            <a:avLst/>
          </a:prstGeom>
          <a:solidFill>
            <a:srgbClr val="38B2AC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5597" y="3647554"/>
            <a:ext cx="192881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29213" y="3454673"/>
            <a:ext cx="221456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Clean, intuitive dashboard for instant visibility into academic performance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1714500" y="4183335"/>
            <a:ext cx="2786063" cy="700088"/>
          </a:xfrm>
          <a:prstGeom prst="rect">
            <a:avLst/>
          </a:prstGeom>
          <a:solidFill>
            <a:srgbClr val="38B2AC">
              <a:alpha val="5000"/>
            </a:srgbClr>
          </a:solidFill>
          <a:ln/>
        </p:spPr>
      </p:sp>
      <p:sp>
        <p:nvSpPr>
          <p:cNvPr id="22" name="Shape 15"/>
          <p:cNvSpPr/>
          <p:nvPr/>
        </p:nvSpPr>
        <p:spPr>
          <a:xfrm>
            <a:off x="1714500" y="4183335"/>
            <a:ext cx="28575" cy="700088"/>
          </a:xfrm>
          <a:prstGeom prst="rect">
            <a:avLst/>
          </a:prstGeom>
          <a:solidFill>
            <a:srgbClr val="38B2AC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8806" y="4447654"/>
            <a:ext cx="128588" cy="1714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200275" y="4254773"/>
            <a:ext cx="221456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AI-driven insights that transform raw data into personalized, actionable guidance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How EduSync AI Works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1171575"/>
            <a:ext cx="77152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Seamless Integration, Intelligent Automation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1005818" y="2688729"/>
            <a:ext cx="571500" cy="5715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D69E2E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5843" y="2860179"/>
            <a:ext cx="171450" cy="228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448730" y="2617291"/>
            <a:ext cx="200025" cy="200025"/>
          </a:xfrm>
          <a:prstGeom prst="ellipse">
            <a:avLst/>
          </a:prstGeom>
          <a:solidFill>
            <a:srgbClr val="2D3748"/>
          </a:solidFill>
          <a:ln/>
        </p:spPr>
      </p:sp>
      <p:sp>
        <p:nvSpPr>
          <p:cNvPr id="8" name="Text 4"/>
          <p:cNvSpPr/>
          <p:nvPr/>
        </p:nvSpPr>
        <p:spPr>
          <a:xfrm>
            <a:off x="1448730" y="2617291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961169" y="3431679"/>
            <a:ext cx="6607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Connect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571500" y="3746004"/>
            <a:ext cx="14401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Integrates with university portals, LMS platforms, and academic databases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2646006" y="2688729"/>
            <a:ext cx="571500" cy="5715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38B2AC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3168" y="2860179"/>
            <a:ext cx="257175" cy="228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088918" y="2617291"/>
            <a:ext cx="200025" cy="200025"/>
          </a:xfrm>
          <a:prstGeom prst="ellipse">
            <a:avLst/>
          </a:prstGeom>
          <a:solidFill>
            <a:srgbClr val="2D3748"/>
          </a:solidFill>
          <a:ln/>
        </p:spPr>
      </p:sp>
      <p:sp>
        <p:nvSpPr>
          <p:cNvPr id="14" name="Text 9"/>
          <p:cNvSpPr/>
          <p:nvPr/>
        </p:nvSpPr>
        <p:spPr>
          <a:xfrm>
            <a:off x="3088918" y="2617291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683" dirty="0"/>
          </a:p>
        </p:txBody>
      </p:sp>
      <p:sp>
        <p:nvSpPr>
          <p:cNvPr id="15" name="Text 10"/>
          <p:cNvSpPr/>
          <p:nvPr/>
        </p:nvSpPr>
        <p:spPr>
          <a:xfrm>
            <a:off x="2607608" y="3431679"/>
            <a:ext cx="6482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Monitor</a:t>
            </a:r>
            <a:endParaRPr lang="en-US" sz="1193" dirty="0"/>
          </a:p>
        </p:txBody>
      </p:sp>
      <p:sp>
        <p:nvSpPr>
          <p:cNvPr id="16" name="Text 11"/>
          <p:cNvSpPr/>
          <p:nvPr/>
        </p:nvSpPr>
        <p:spPr>
          <a:xfrm>
            <a:off x="2211688" y="3746004"/>
            <a:ext cx="14401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Autonomously tracks enrolled units, CAT schedules, and assignment deadlines</a:t>
            </a:r>
            <a:endParaRPr lang="en-US" sz="834" dirty="0"/>
          </a:p>
        </p:txBody>
      </p:sp>
      <p:sp>
        <p:nvSpPr>
          <p:cNvPr id="17" name="Shape 12"/>
          <p:cNvSpPr/>
          <p:nvPr/>
        </p:nvSpPr>
        <p:spPr>
          <a:xfrm>
            <a:off x="4286194" y="2688729"/>
            <a:ext cx="571500" cy="5715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D69E2E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932" y="2860179"/>
            <a:ext cx="200025" cy="2286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729107" y="2617291"/>
            <a:ext cx="200025" cy="200025"/>
          </a:xfrm>
          <a:prstGeom prst="ellipse">
            <a:avLst/>
          </a:prstGeom>
          <a:solidFill>
            <a:srgbClr val="2D3748"/>
          </a:solidFill>
          <a:ln/>
        </p:spPr>
      </p:sp>
      <p:sp>
        <p:nvSpPr>
          <p:cNvPr id="20" name="Text 14"/>
          <p:cNvSpPr/>
          <p:nvPr/>
        </p:nvSpPr>
        <p:spPr>
          <a:xfrm>
            <a:off x="4729107" y="2617291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683" dirty="0"/>
          </a:p>
        </p:txBody>
      </p:sp>
      <p:sp>
        <p:nvSpPr>
          <p:cNvPr id="21" name="Text 15"/>
          <p:cNvSpPr/>
          <p:nvPr/>
        </p:nvSpPr>
        <p:spPr>
          <a:xfrm>
            <a:off x="4376384" y="3431679"/>
            <a:ext cx="391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Alert</a:t>
            </a:r>
            <a:endParaRPr lang="en-US" sz="1193" dirty="0"/>
          </a:p>
        </p:txBody>
      </p:sp>
      <p:sp>
        <p:nvSpPr>
          <p:cNvPr id="22" name="Text 16"/>
          <p:cNvSpPr/>
          <p:nvPr/>
        </p:nvSpPr>
        <p:spPr>
          <a:xfrm>
            <a:off x="3851877" y="3746004"/>
            <a:ext cx="14401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Sends proactive, personalized reminders via WhatsApp and email</a:t>
            </a:r>
            <a:endParaRPr lang="en-US" sz="834" dirty="0"/>
          </a:p>
        </p:txBody>
      </p:sp>
      <p:sp>
        <p:nvSpPr>
          <p:cNvPr id="23" name="Shape 17"/>
          <p:cNvSpPr/>
          <p:nvPr/>
        </p:nvSpPr>
        <p:spPr>
          <a:xfrm>
            <a:off x="5926382" y="2688729"/>
            <a:ext cx="571500" cy="5715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38B2AC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3545" y="2860179"/>
            <a:ext cx="257175" cy="2286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369295" y="2617291"/>
            <a:ext cx="200025" cy="200025"/>
          </a:xfrm>
          <a:prstGeom prst="ellipse">
            <a:avLst/>
          </a:prstGeom>
          <a:solidFill>
            <a:srgbClr val="2D3748"/>
          </a:solidFill>
          <a:ln/>
        </p:spPr>
      </p:sp>
      <p:sp>
        <p:nvSpPr>
          <p:cNvPr id="26" name="Text 19"/>
          <p:cNvSpPr/>
          <p:nvPr/>
        </p:nvSpPr>
        <p:spPr>
          <a:xfrm>
            <a:off x="6369295" y="2617291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683" dirty="0"/>
          </a:p>
        </p:txBody>
      </p:sp>
      <p:sp>
        <p:nvSpPr>
          <p:cNvPr id="27" name="Text 20"/>
          <p:cNvSpPr/>
          <p:nvPr/>
        </p:nvSpPr>
        <p:spPr>
          <a:xfrm>
            <a:off x="5902272" y="3431679"/>
            <a:ext cx="61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Analyze</a:t>
            </a:r>
            <a:endParaRPr lang="en-US" sz="1193" dirty="0"/>
          </a:p>
        </p:txBody>
      </p:sp>
      <p:sp>
        <p:nvSpPr>
          <p:cNvPr id="28" name="Text 21"/>
          <p:cNvSpPr/>
          <p:nvPr/>
        </p:nvSpPr>
        <p:spPr>
          <a:xfrm>
            <a:off x="5492065" y="3746004"/>
            <a:ext cx="14401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engine identifies performance trends and flags at-risk areas</a:t>
            </a:r>
            <a:endParaRPr lang="en-US" sz="834" dirty="0"/>
          </a:p>
        </p:txBody>
      </p:sp>
      <p:sp>
        <p:nvSpPr>
          <p:cNvPr id="29" name="Shape 22"/>
          <p:cNvSpPr/>
          <p:nvPr/>
        </p:nvSpPr>
        <p:spPr>
          <a:xfrm>
            <a:off x="7566571" y="2688729"/>
            <a:ext cx="571500" cy="5715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D69E2E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8021" y="2860179"/>
            <a:ext cx="228600" cy="2286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8009483" y="2617291"/>
            <a:ext cx="200025" cy="200025"/>
          </a:xfrm>
          <a:prstGeom prst="ellipse">
            <a:avLst/>
          </a:prstGeom>
          <a:solidFill>
            <a:srgbClr val="2D3748"/>
          </a:solidFill>
          <a:ln/>
        </p:spPr>
      </p:sp>
      <p:sp>
        <p:nvSpPr>
          <p:cNvPr id="32" name="Text 24"/>
          <p:cNvSpPr/>
          <p:nvPr/>
        </p:nvSpPr>
        <p:spPr>
          <a:xfrm>
            <a:off x="8009483" y="2617291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683" dirty="0"/>
          </a:p>
        </p:txBody>
      </p:sp>
      <p:sp>
        <p:nvSpPr>
          <p:cNvPr id="33" name="Text 25"/>
          <p:cNvSpPr/>
          <p:nvPr/>
        </p:nvSpPr>
        <p:spPr>
          <a:xfrm>
            <a:off x="7616577" y="3431679"/>
            <a:ext cx="4714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Guide</a:t>
            </a:r>
            <a:endParaRPr lang="en-US" sz="1193" dirty="0"/>
          </a:p>
        </p:txBody>
      </p:sp>
      <p:sp>
        <p:nvSpPr>
          <p:cNvPr id="34" name="Text 26"/>
          <p:cNvSpPr/>
          <p:nvPr/>
        </p:nvSpPr>
        <p:spPr>
          <a:xfrm>
            <a:off x="7132253" y="3746004"/>
            <a:ext cx="14401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presents actionable insights tailored to each student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6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Core Features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1171575"/>
            <a:ext cx="77152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for the Way Students Actually Live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1003697" y="1841302"/>
            <a:ext cx="2497801" cy="505420"/>
          </a:xfrm>
          <a:prstGeom prst="rect">
            <a:avLst/>
          </a:prstGeom>
          <a:solidFill>
            <a:srgbClr val="38B2AC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003697" y="1841302"/>
            <a:ext cx="2497801" cy="14288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" name="Shape 4"/>
          <p:cNvSpPr/>
          <p:nvPr/>
        </p:nvSpPr>
        <p:spPr>
          <a:xfrm>
            <a:off x="1003697" y="2339578"/>
            <a:ext cx="2497801" cy="7144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8" name="Text 5"/>
          <p:cNvSpPr/>
          <p:nvPr/>
        </p:nvSpPr>
        <p:spPr>
          <a:xfrm>
            <a:off x="1003697" y="1841302"/>
            <a:ext cx="2497801" cy="505420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Feature</a:t>
            </a:r>
            <a:endParaRPr lang="en-US" sz="1090" dirty="0"/>
          </a:p>
        </p:txBody>
      </p:sp>
      <p:sp>
        <p:nvSpPr>
          <p:cNvPr id="9" name="Shape 6"/>
          <p:cNvSpPr/>
          <p:nvPr/>
        </p:nvSpPr>
        <p:spPr>
          <a:xfrm>
            <a:off x="3501498" y="1841302"/>
            <a:ext cx="4638805" cy="505420"/>
          </a:xfrm>
          <a:prstGeom prst="rect">
            <a:avLst/>
          </a:prstGeom>
          <a:solidFill>
            <a:srgbClr val="38B2AC">
              <a:alpha val="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501498" y="1841302"/>
            <a:ext cx="4638805" cy="14288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1" name="Shape 8"/>
          <p:cNvSpPr/>
          <p:nvPr/>
        </p:nvSpPr>
        <p:spPr>
          <a:xfrm>
            <a:off x="3501498" y="2339578"/>
            <a:ext cx="4638805" cy="7144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12" name="Text 9"/>
          <p:cNvSpPr/>
          <p:nvPr/>
        </p:nvSpPr>
        <p:spPr>
          <a:xfrm>
            <a:off x="3501498" y="1841302"/>
            <a:ext cx="4638805" cy="505420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Description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1003697" y="2336006"/>
            <a:ext cx="2497801" cy="482203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Academic Tracking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3501498" y="2336006"/>
            <a:ext cx="4638805" cy="482203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Monitors units, deadlines, and progress continuously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1003697" y="2818209"/>
            <a:ext cx="2497801" cy="485775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WhatsApp &amp; Email Reminders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3501498" y="2818209"/>
            <a:ext cx="4638805" cy="485775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Proactive alerts on channels students already use daily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1003697" y="3303984"/>
            <a:ext cx="2497801" cy="485775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 Dashboard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3501498" y="3303984"/>
            <a:ext cx="4638805" cy="485775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Clean, intuitive view of performance and upcoming requirements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1003697" y="3789759"/>
            <a:ext cx="2497801" cy="485775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AI-Driven Insights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3501498" y="3789759"/>
            <a:ext cx="4638805" cy="485775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Identifies trends, flags risks, and recommends actions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1003697" y="4275534"/>
            <a:ext cx="2497801" cy="485775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Institutional Integration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3501498" y="4275534"/>
            <a:ext cx="4638805" cy="485775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Connects seamlessly with existing university systems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1003697" y="4761309"/>
            <a:ext cx="2497801" cy="485775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Pending Requirements Tracker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3501498" y="4761309"/>
            <a:ext cx="4638805" cy="485775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Never miss a CAT, submission, or registration deadline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75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Proactive Reminders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1000125"/>
            <a:ext cx="77152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Right Message, at the Right Time, on the Right Channel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1357313" y="1977033"/>
            <a:ext cx="1714500" cy="11054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2000250" y="1977033"/>
            <a:ext cx="428625" cy="428625"/>
          </a:xfrm>
          <a:prstGeom prst="ellipse">
            <a:avLst/>
          </a:prstGeom>
          <a:solidFill>
            <a:srgbClr val="FFFFFF"/>
          </a:solidFill>
          <a:ln w="9144">
            <a:solidFill>
              <a:srgbClr val="38B2AC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553" y="2105620"/>
            <a:ext cx="150019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8610" y="2519958"/>
            <a:ext cx="9519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Days Before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1500188" y="2771775"/>
            <a:ext cx="14287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Early warning for upcoming assignments and CATs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3714750" y="1977033"/>
            <a:ext cx="1714500" cy="11054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4357688" y="1977033"/>
            <a:ext cx="428625" cy="428625"/>
          </a:xfrm>
          <a:prstGeom prst="ellipse">
            <a:avLst/>
          </a:prstGeom>
          <a:solidFill>
            <a:srgbClr val="FFFFFF"/>
          </a:solidFill>
          <a:ln w="9144">
            <a:solidFill>
              <a:srgbClr val="38B2AC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275" y="2105620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96048" y="2519958"/>
            <a:ext cx="9519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Days Before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3857625" y="2771775"/>
            <a:ext cx="14287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Preparation reminder with specific unit details</a:t>
            </a:r>
            <a:endParaRPr lang="en-US" sz="834" dirty="0"/>
          </a:p>
        </p:txBody>
      </p:sp>
      <p:sp>
        <p:nvSpPr>
          <p:cNvPr id="15" name="Shape 10"/>
          <p:cNvSpPr/>
          <p:nvPr/>
        </p:nvSpPr>
        <p:spPr>
          <a:xfrm>
            <a:off x="6072188" y="1977033"/>
            <a:ext cx="1714500" cy="11054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6715125" y="1977033"/>
            <a:ext cx="428625" cy="428625"/>
          </a:xfrm>
          <a:prstGeom prst="ellipse">
            <a:avLst/>
          </a:prstGeom>
          <a:solidFill>
            <a:srgbClr val="FFFFFF"/>
          </a:solidFill>
          <a:ln w="9144">
            <a:solidFill>
              <a:srgbClr val="D69E2E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8722" y="2105620"/>
            <a:ext cx="21431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70439" y="2519958"/>
            <a:ext cx="11179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 Hours Before</a:t>
            </a:r>
            <a:endParaRPr lang="en-US" sz="987" dirty="0"/>
          </a:p>
        </p:txBody>
      </p:sp>
      <p:sp>
        <p:nvSpPr>
          <p:cNvPr id="19" name="Text 13"/>
          <p:cNvSpPr/>
          <p:nvPr/>
        </p:nvSpPr>
        <p:spPr>
          <a:xfrm>
            <a:off x="6215063" y="2771775"/>
            <a:ext cx="14287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urgent alert to ensure submission or attendance</a:t>
            </a:r>
            <a:endParaRPr lang="en-US" sz="834" dirty="0"/>
          </a:p>
        </p:txBody>
      </p:sp>
      <p:sp>
        <p:nvSpPr>
          <p:cNvPr id="20" name="Shape 14"/>
          <p:cNvSpPr/>
          <p:nvPr/>
        </p:nvSpPr>
        <p:spPr>
          <a:xfrm>
            <a:off x="1000125" y="3511153"/>
            <a:ext cx="2190731" cy="1864519"/>
          </a:xfrm>
          <a:prstGeom prst="rect">
            <a:avLst/>
          </a:prstGeom>
          <a:solidFill>
            <a:srgbClr val="FFFFFF"/>
          </a:solidFill>
          <a:ln w="9144">
            <a:solidFill>
              <a:srgbClr val="718096">
                <a:alpha val="20000"/>
              </a:srgbClr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5478" y="3770114"/>
            <a:ext cx="200025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3770" y="4180880"/>
            <a:ext cx="18234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High-Engagement Delivery</a:t>
            </a:r>
            <a:endParaRPr lang="en-US" sz="987" dirty="0"/>
          </a:p>
        </p:txBody>
      </p:sp>
      <p:sp>
        <p:nvSpPr>
          <p:cNvPr id="23" name="Text 16"/>
          <p:cNvSpPr/>
          <p:nvPr/>
        </p:nvSpPr>
        <p:spPr>
          <a:xfrm>
            <a:off x="1143000" y="4461272"/>
            <a:ext cx="190498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WhatsApp delivery ensures significantly higher open rates compared to traditional email-only systems.</a:t>
            </a:r>
            <a:endParaRPr lang="en-US" sz="834" dirty="0"/>
          </a:p>
        </p:txBody>
      </p:sp>
      <p:sp>
        <p:nvSpPr>
          <p:cNvPr id="24" name="Shape 17"/>
          <p:cNvSpPr/>
          <p:nvPr/>
        </p:nvSpPr>
        <p:spPr>
          <a:xfrm>
            <a:off x="3476606" y="3511153"/>
            <a:ext cx="2190759" cy="1864519"/>
          </a:xfrm>
          <a:prstGeom prst="rect">
            <a:avLst/>
          </a:prstGeom>
          <a:solidFill>
            <a:srgbClr val="FFFFFF"/>
          </a:solidFill>
          <a:ln w="9144">
            <a:solidFill>
              <a:srgbClr val="718096">
                <a:alpha val="20000"/>
              </a:srgbClr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7672" y="3770114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915640" y="4180880"/>
            <a:ext cx="131266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Weekly Summaries</a:t>
            </a:r>
            <a:endParaRPr lang="en-US" sz="987" dirty="0"/>
          </a:p>
        </p:txBody>
      </p:sp>
      <p:sp>
        <p:nvSpPr>
          <p:cNvPr id="27" name="Text 19"/>
          <p:cNvSpPr/>
          <p:nvPr/>
        </p:nvSpPr>
        <p:spPr>
          <a:xfrm>
            <a:off x="3619481" y="4461272"/>
            <a:ext cx="19050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email digests provide a complete overview of academic progress and upcoming milestones.</a:t>
            </a:r>
            <a:endParaRPr lang="en-US" sz="834" dirty="0"/>
          </a:p>
        </p:txBody>
      </p:sp>
      <p:sp>
        <p:nvSpPr>
          <p:cNvPr id="28" name="Shape 20"/>
          <p:cNvSpPr/>
          <p:nvPr/>
        </p:nvSpPr>
        <p:spPr>
          <a:xfrm>
            <a:off x="5953116" y="3511153"/>
            <a:ext cx="2190731" cy="1864519"/>
          </a:xfrm>
          <a:prstGeom prst="rect">
            <a:avLst/>
          </a:prstGeom>
          <a:solidFill>
            <a:srgbClr val="FFFFFF"/>
          </a:solidFill>
          <a:ln w="9144">
            <a:solidFill>
              <a:srgbClr val="718096">
                <a:alpha val="20000"/>
              </a:srgbClr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4181" y="3770114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351073" y="4180880"/>
            <a:ext cx="13948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 Preferences</a:t>
            </a:r>
            <a:endParaRPr lang="en-US" sz="987" dirty="0"/>
          </a:p>
        </p:txBody>
      </p:sp>
      <p:sp>
        <p:nvSpPr>
          <p:cNvPr id="31" name="Text 22"/>
          <p:cNvSpPr/>
          <p:nvPr/>
        </p:nvSpPr>
        <p:spPr>
          <a:xfrm>
            <a:off x="6095991" y="4461272"/>
            <a:ext cx="190498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Students can easily configure notification settings and channels to perfectly suit their personal schedules.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959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Why EduSync AI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1000125"/>
            <a:ext cx="77152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Empowering Learners to Focus on What Matters Most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1357313" y="1691283"/>
            <a:ext cx="642937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59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EduSync AI does not just organize information — it transforms the student experience. By removing the cognitive burden of tracking deadlines, it frees students to focus their energy on learning, growth, and achievement.</a:t>
            </a:r>
            <a:endParaRPr lang="en-US" sz="1159" dirty="0"/>
          </a:p>
        </p:txBody>
      </p:sp>
      <p:sp>
        <p:nvSpPr>
          <p:cNvPr id="6" name="Shape 3"/>
          <p:cNvSpPr/>
          <p:nvPr/>
        </p:nvSpPr>
        <p:spPr>
          <a:xfrm>
            <a:off x="1000125" y="2731396"/>
            <a:ext cx="3357563" cy="1028700"/>
          </a:xfrm>
          <a:prstGeom prst="rect">
            <a:avLst/>
          </a:prstGeom>
          <a:solidFill>
            <a:srgbClr val="FAFAFA"/>
          </a:solidFill>
          <a:ln w="9144">
            <a:solidFill>
              <a:srgbClr val="718096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2874271"/>
            <a:ext cx="342900" cy="342900"/>
          </a:xfrm>
          <a:prstGeom prst="ellipse">
            <a:avLst/>
          </a:prstGeom>
          <a:solidFill>
            <a:srgbClr val="38B2AC">
              <a:alpha val="10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725" y="2959996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28775" y="2945709"/>
            <a:ext cx="25860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Reduces Stress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1628775" y="3226101"/>
            <a:ext cx="2557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Alleviates deadline-related anxiety through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1628775" y="3418982"/>
            <a:ext cx="16841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proactive, automated alerts.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4786313" y="2731396"/>
            <a:ext cx="3357563" cy="1028700"/>
          </a:xfrm>
          <a:prstGeom prst="rect">
            <a:avLst/>
          </a:prstGeom>
          <a:solidFill>
            <a:srgbClr val="FAFAFA"/>
          </a:solidFill>
          <a:ln w="9144">
            <a:solidFill>
              <a:srgbClr val="718096">
                <a:alpha val="2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929188" y="2874271"/>
            <a:ext cx="342900" cy="342900"/>
          </a:xfrm>
          <a:prstGeom prst="ellipse">
            <a:avLst/>
          </a:prstGeom>
          <a:solidFill>
            <a:srgbClr val="D69E2E">
              <a:alpha val="10000"/>
            </a:srgbClr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4913" y="2959996"/>
            <a:ext cx="171450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14963" y="2945709"/>
            <a:ext cx="25860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Promotes Proactivity</a:t>
            </a:r>
            <a:endParaRPr lang="en-US" sz="987" dirty="0"/>
          </a:p>
        </p:txBody>
      </p:sp>
      <p:sp>
        <p:nvSpPr>
          <p:cNvPr id="16" name="Text 11"/>
          <p:cNvSpPr/>
          <p:nvPr/>
        </p:nvSpPr>
        <p:spPr>
          <a:xfrm>
            <a:off x="5414963" y="3226101"/>
            <a:ext cx="24288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Replaces reactive catch-up behavior with</a:t>
            </a:r>
            <a:endParaRPr lang="en-US" sz="942" dirty="0"/>
          </a:p>
        </p:txBody>
      </p:sp>
      <p:sp>
        <p:nvSpPr>
          <p:cNvPr id="17" name="Text 12"/>
          <p:cNvSpPr/>
          <p:nvPr/>
        </p:nvSpPr>
        <p:spPr>
          <a:xfrm>
            <a:off x="5414963" y="3418982"/>
            <a:ext cx="25396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confident, planned academic engagement.</a:t>
            </a:r>
            <a:endParaRPr lang="en-US" sz="942" dirty="0"/>
          </a:p>
        </p:txBody>
      </p:sp>
      <p:sp>
        <p:nvSpPr>
          <p:cNvPr id="18" name="Shape 13"/>
          <p:cNvSpPr/>
          <p:nvPr/>
        </p:nvSpPr>
        <p:spPr>
          <a:xfrm>
            <a:off x="1000125" y="3960121"/>
            <a:ext cx="3357563" cy="1221581"/>
          </a:xfrm>
          <a:prstGeom prst="rect">
            <a:avLst/>
          </a:prstGeom>
          <a:solidFill>
            <a:srgbClr val="FAFAFA"/>
          </a:solidFill>
          <a:ln w="9144">
            <a:solidFill>
              <a:srgbClr val="718096">
                <a:alpha val="2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143000" y="4102996"/>
            <a:ext cx="342900" cy="342900"/>
          </a:xfrm>
          <a:prstGeom prst="ellipse">
            <a:avLst/>
          </a:prstGeom>
          <a:solidFill>
            <a:srgbClr val="38B2AC">
              <a:alpha val="10000"/>
            </a:srgbClr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8725" y="4188721"/>
            <a:ext cx="171450" cy="1714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28775" y="4174434"/>
            <a:ext cx="25860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Data-Driven Empowerment</a:t>
            </a:r>
            <a:endParaRPr lang="en-US" sz="987" dirty="0"/>
          </a:p>
        </p:txBody>
      </p:sp>
      <p:sp>
        <p:nvSpPr>
          <p:cNvPr id="22" name="Text 16"/>
          <p:cNvSpPr/>
          <p:nvPr/>
        </p:nvSpPr>
        <p:spPr>
          <a:xfrm>
            <a:off x="1628775" y="4454826"/>
            <a:ext cx="196988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Empowers students with insights</a:t>
            </a:r>
            <a:endParaRPr lang="en-US" sz="942" dirty="0"/>
          </a:p>
        </p:txBody>
      </p:sp>
      <p:sp>
        <p:nvSpPr>
          <p:cNvPr id="23" name="Text 17"/>
          <p:cNvSpPr/>
          <p:nvPr/>
        </p:nvSpPr>
        <p:spPr>
          <a:xfrm>
            <a:off x="1628775" y="4647707"/>
            <a:ext cx="221277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previously available only to academic</a:t>
            </a:r>
            <a:endParaRPr lang="en-US" sz="942" dirty="0"/>
          </a:p>
        </p:txBody>
      </p:sp>
      <p:sp>
        <p:nvSpPr>
          <p:cNvPr id="24" name="Text 18"/>
          <p:cNvSpPr/>
          <p:nvPr/>
        </p:nvSpPr>
        <p:spPr>
          <a:xfrm>
            <a:off x="1628775" y="4840588"/>
            <a:ext cx="5304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advisors.</a:t>
            </a:r>
            <a:endParaRPr lang="en-US" sz="942" dirty="0"/>
          </a:p>
        </p:txBody>
      </p:sp>
      <p:sp>
        <p:nvSpPr>
          <p:cNvPr id="25" name="Shape 19"/>
          <p:cNvSpPr/>
          <p:nvPr/>
        </p:nvSpPr>
        <p:spPr>
          <a:xfrm>
            <a:off x="4786313" y="3960121"/>
            <a:ext cx="3357563" cy="1207294"/>
          </a:xfrm>
          <a:prstGeom prst="rect">
            <a:avLst/>
          </a:prstGeom>
          <a:solidFill>
            <a:srgbClr val="FAFAFA"/>
          </a:solidFill>
          <a:ln w="9144">
            <a:solidFill>
              <a:srgbClr val="718096">
                <a:alpha val="2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929188" y="4102996"/>
            <a:ext cx="342900" cy="342900"/>
          </a:xfrm>
          <a:prstGeom prst="ellipse">
            <a:avLst/>
          </a:prstGeom>
          <a:solidFill>
            <a:srgbClr val="D69E2E">
              <a:alpha val="10000"/>
            </a:srgbClr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4197" y="4188721"/>
            <a:ext cx="192881" cy="1714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14963" y="4174434"/>
            <a:ext cx="25860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Bridges the Gap</a:t>
            </a:r>
            <a:endParaRPr lang="en-US" sz="987" dirty="0"/>
          </a:p>
        </p:txBody>
      </p:sp>
      <p:sp>
        <p:nvSpPr>
          <p:cNvPr id="29" name="Text 22"/>
          <p:cNvSpPr/>
          <p:nvPr/>
        </p:nvSpPr>
        <p:spPr>
          <a:xfrm>
            <a:off x="5414963" y="4454826"/>
            <a:ext cx="24860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Seamlessly connects institutional systems</a:t>
            </a:r>
            <a:endParaRPr lang="en-US" sz="942" dirty="0"/>
          </a:p>
        </p:txBody>
      </p:sp>
      <p:sp>
        <p:nvSpPr>
          <p:cNvPr id="30" name="Text 23"/>
          <p:cNvSpPr/>
          <p:nvPr/>
        </p:nvSpPr>
        <p:spPr>
          <a:xfrm>
            <a:off x="5414963" y="4647707"/>
            <a:ext cx="20270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the student's daily digital life.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82673" y="658569"/>
            <a:ext cx="3978654" cy="5216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System Security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962506" y="1418154"/>
            <a:ext cx="6429375" cy="2534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EduSync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AI doesn’t just keep students organized—it keeps their data safe. </a:t>
            </a:r>
          </a:p>
          <a:p>
            <a:pPr algn="ctr">
              <a:lnSpc>
                <a:spcPts val="25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Built with secure integrations, encrypted data handling, and strict access controls, </a:t>
            </a:r>
          </a:p>
          <a:p>
            <a:pPr algn="ctr">
              <a:lnSpc>
                <a:spcPts val="25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system ensures that sensitive academic information stays private and protected.</a:t>
            </a:r>
          </a:p>
          <a:p>
            <a:pPr algn="ctr">
              <a:lnSpc>
                <a:spcPts val="25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acts as a read-only assistant and observes your progress to help you, </a:t>
            </a:r>
          </a:p>
          <a:p>
            <a:pPr algn="ctr">
              <a:lnSpc>
                <a:spcPts val="25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but it cannot change your grades or delete your records.</a:t>
            </a:r>
          </a:p>
          <a:p>
            <a:pPr algn="ctr">
              <a:lnSpc>
                <a:spcPts val="25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only use student data to deliver personalized insights and timely reminders</a:t>
            </a:r>
            <a:endParaRPr lang="en-US" sz="1486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>
              <a:lnSpc>
                <a:spcPts val="2500"/>
              </a:lnSpc>
            </a:pPr>
            <a:r>
              <a:rPr lang="en-US" sz="1486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 short it combines smart academic support with trusted security—so students </a:t>
            </a:r>
          </a:p>
          <a:p>
            <a:pPr algn="ctr">
              <a:lnSpc>
                <a:spcPts val="2500"/>
              </a:lnSpc>
            </a:pPr>
            <a:r>
              <a:rPr lang="en-US" sz="1486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can focus on success and not worry about their data.</a:t>
            </a:r>
          </a:p>
        </p:txBody>
      </p:sp>
      <p:sp>
        <p:nvSpPr>
          <p:cNvPr id="6" name="Text 3"/>
          <p:cNvSpPr/>
          <p:nvPr/>
        </p:nvSpPr>
        <p:spPr>
          <a:xfrm>
            <a:off x="1071563" y="2508014"/>
            <a:ext cx="210741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410" i="1" dirty="0">
                <a:solidFill>
                  <a:srgbClr val="38B2AC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\"</a:t>
            </a:r>
            <a:endParaRPr lang="en-US" sz="44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1B2DF-DC2D-54D9-5890-60FBD9C4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0132776-1668-32DB-5910-AE37D9597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D3CB11F-1F49-2038-1840-71F6AE3637FE}"/>
              </a:ext>
            </a:extLst>
          </p:cNvPr>
          <p:cNvSpPr/>
          <p:nvPr/>
        </p:nvSpPr>
        <p:spPr>
          <a:xfrm>
            <a:off x="3455789" y="1086408"/>
            <a:ext cx="2232422" cy="609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Vision</a:t>
            </a:r>
            <a:endParaRPr lang="en-US" sz="3294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8E96987-03D2-16A7-BB89-0C4DE6EC6234}"/>
              </a:ext>
            </a:extLst>
          </p:cNvPr>
          <p:cNvSpPr/>
          <p:nvPr/>
        </p:nvSpPr>
        <p:spPr>
          <a:xfrm>
            <a:off x="2269927" y="1809713"/>
            <a:ext cx="460414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38B2A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Future Where No Student Gets Left Behind</a:t>
            </a:r>
            <a:endParaRPr lang="en-US" sz="1704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1A72BDC-9E6C-F69C-265B-422082DDC880}"/>
              </a:ext>
            </a:extLst>
          </p:cNvPr>
          <p:cNvSpPr/>
          <p:nvPr/>
        </p:nvSpPr>
        <p:spPr>
          <a:xfrm>
            <a:off x="1357313" y="2722327"/>
            <a:ext cx="6429375" cy="611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1486" i="1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the next phase the system will be able to predict student data by </a:t>
            </a:r>
            <a:r>
              <a:rPr lang="en-US" sz="1486" i="1" dirty="0" err="1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anallysing</a:t>
            </a:r>
            <a:r>
              <a:rPr lang="en-US" sz="1486" i="1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student trajectory and providing a data driven roadmap for students.</a:t>
            </a:r>
            <a:endParaRPr lang="en-US" sz="1486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45EE10A-4B2E-3966-DED9-7873B1FABE4D}"/>
              </a:ext>
            </a:extLst>
          </p:cNvPr>
          <p:cNvSpPr/>
          <p:nvPr/>
        </p:nvSpPr>
        <p:spPr>
          <a:xfrm>
            <a:off x="1071563" y="2508014"/>
            <a:ext cx="210741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410" i="1" dirty="0">
                <a:solidFill>
                  <a:srgbClr val="38B2AC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\"</a:t>
            </a:r>
            <a:endParaRPr lang="en-US" sz="4410" dirty="0"/>
          </a:p>
        </p:txBody>
      </p:sp>
    </p:spTree>
    <p:extLst>
      <p:ext uri="{BB962C8B-B14F-4D97-AF65-F5344CB8AC3E}">
        <p14:creationId xmlns:p14="http://schemas.microsoft.com/office/powerpoint/2010/main" val="3033515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842</Words>
  <Application>Microsoft Office PowerPoint</Application>
  <PresentationFormat>On-screen Show (16:9)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Open Sans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Sir Rholex</cp:lastModifiedBy>
  <cp:revision>5</cp:revision>
  <dcterms:created xsi:type="dcterms:W3CDTF">2026-03-19T19:02:35Z</dcterms:created>
  <dcterms:modified xsi:type="dcterms:W3CDTF">2026-03-19T20:08:27Z</dcterms:modified>
</cp:coreProperties>
</file>